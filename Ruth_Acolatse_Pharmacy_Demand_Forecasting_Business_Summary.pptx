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7A"/>
                </a:solidFill>
                <a:latin typeface="Arial"/>
              </a:rPr>
              <a:t>Busy-day demand, units per day (90th percentile)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Busy-day demand (90th percentile, units per day)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226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Training years</c:v>
                  </c:pt>
                  <c:pt idx="1">
                    <c:v>Test years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226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in composite score (%)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6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 squared</c:v>
                  </c:pt>
                  <c:pt idx="1">
                    <c:v>Median abs. error</c:v>
                  </c:pt>
                  <c:pt idx="2">
                    <c:v>Mean abs. error</c:v>
                  </c:pt>
                  <c:pt idx="3">
                    <c:v>MASE (vs naive)</c:v>
                  </c:pt>
                  <c:pt idx="4">
                    <c:v>Root mean sq. error</c:v>
                  </c:pt>
                  <c:pt idx="5">
                    <c:v>Forecast bias</c:v>
                  </c:pt>
                  <c:pt idx="6">
                    <c:v>WAPE (% error)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5</c:v>
                </c:pt>
                <c:pt idx="2">
                  <c:v>12</c:v>
                </c:pt>
                <c:pt idx="3">
                  <c:v>12</c:v>
                </c:pt>
                <c:pt idx="4">
                  <c:v>18</c:v>
                </c:pt>
                <c:pt idx="5">
                  <c:v>22</c:v>
                </c:pt>
                <c:pt idx="6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26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3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B6B7A"/>
                </a:solidFill>
                <a:latin typeface="Arial"/>
              </a:rPr>
              <a:t>Average under-prediction, % (untuned models, 2018 to 2019)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Under-prediction on test data (%)</c:v>
                </c:pt>
              </c:strCache>
            </c:strRef>
          </c:tx>
          <c:spPr>
            <a:solidFill>
              <a:srgbClr val="C8442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6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XGBoost</c:v>
                  </c:pt>
                  <c:pt idx="1">
                    <c:v>Random forest</c:v>
                  </c:pt>
                  <c:pt idx="2">
                    <c:v>Gradient boosting</c:v>
                  </c:pt>
                  <c:pt idx="3">
                    <c:v>LightGBM</c:v>
                  </c:pt>
                  <c:pt idx="4">
                    <c:v>Linear regression (winner)</c:v>
                  </c:pt>
                  <c:pt idx="5">
                    <c:v>Ensemble</c:v>
                  </c:pt>
                  <c:pt idx="6">
                    <c:v>Prophet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26.26</c:v>
                </c:pt>
                <c:pt idx="1">
                  <c:v>26.6</c:v>
                </c:pt>
                <c:pt idx="2">
                  <c:v>27.79</c:v>
                </c:pt>
                <c:pt idx="3">
                  <c:v>29.12</c:v>
                </c:pt>
                <c:pt idx="4">
                  <c:v>32.2</c:v>
                </c:pt>
                <c:pt idx="5">
                  <c:v>37.41</c:v>
                </c:pt>
                <c:pt idx="6">
                  <c:v>43.41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226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3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version of my class project. The full technical deck has 28 slides; this gives the decision-relevant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first. Benchmark: none reached the pharmaceutical industry WAPE benchmark of under 35%. "0 of 9" refers to model families; the best test WAPE was 65.8%.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shift was found in exploratory analysis and confirmed on the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62% = WAPE 28 + bias 22 + MASE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Tuned versions showed the same pattern: between 29 and 50% under-prediction. MASE 1.078 is the naive baseline on validation; 0.9206 is the linear regression 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follow the limitations and future improvements in the technical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822960"/>
            <a:ext cx="3840480" cy="3840480"/>
          </a:xfrm>
          <a:prstGeom prst="ellipse">
            <a:avLst/>
          </a:prstGeom>
          <a:solidFill>
            <a:srgbClr val="1F7A8C">
              <a:alpha val="45000"/>
            </a:srgbClr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377440"/>
            <a:ext cx="2377440" cy="2377440"/>
          </a:xfrm>
          <a:prstGeom prst="ellipse">
            <a:avLst/>
          </a:prstGeom>
          <a:solidFill>
            <a:srgbClr val="F2A900">
              <a:alpha val="30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pharmacy demand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nine models taught us about stock decisions when demand shifts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 Acolatse  |  Business summary of an MSc machine learning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simplest model won, but none met the industry accuracy benchmark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554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families tested on 2,106 days of daily sales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42032" y="14173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9192" y="1554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+48%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679192" y="23317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in average demand between training and test years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26864" y="14173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64024" y="1554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to 43%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764024" y="23317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under-prediction in the leading models, the stock-out risk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11696" y="14173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48856" y="1554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4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9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848856" y="23317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the industry error benchmark of under 35%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50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changed faster than the models could follow. A plain linear model coped best, but every leading model ordered too little. Fix that before anyone relies on the forecast.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my MSc machine learning project, public Kaggle pharmacy sales data, 2014 to 2019, test period 2018 to 2019.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happened: demand in 2018 to 2019 sat above anything the models had seen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2588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75488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937760" y="150876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demand rose 48% in the test years compared with training.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cannot predict above the levels they trained on, so they hit a ceiling near 12 units.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log-based linear model scales with demand, so it kept pace better.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tuning did not help, because settings tuned on 2017 did not transfer.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my MSc machine learning project, public Kaggle pharmacy sales data, 2014 to 2019, test period 2018 to 2019.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judged the models: weighted towards what hurts a pharmacy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577840" y="13716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accuracy?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Under-ordering causes stock-outs and patient harm; over-ordering causes waste. A plain average error treats both alike.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62% of the score sits on percentage error, bias and performance against a naive forecast.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was tested in time order, never on shuffled data, to avoid using the future to predict the past.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my MSc machine learning project, composite scoring methodology. WAPE = weighted absolute percentage error; MASE = mean absolute scaled error.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catch: every model under-predicted demand, by 26% to 43%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37160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beat the naive forecast by only a small margin (MASE 0.92 vs 1.08).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error was still 65.8% (WAPE), far above the under-35% industry benchmark.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from these forecasts would leave shelves short in busy periods.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my MSc machine learning project, public Kaggle pharmacy sales data, 2014 to 2019, test period 2018 to 2019. Naive baseline MASE from validation year.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would do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B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63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the bias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bias correction or a loss function that penalises under-prediction more, matching the cost of a stock-out.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B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4630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463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for drift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9659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forecast error and retrain when demand shifts, instead of waiting for the yearly cycle.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B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10896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108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outside signals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118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Flu-season severity, promotions and competitor data were not available and would likely help.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B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10896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108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off on deployment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6118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met the industry benchmark, so use forecasts as decision support only, with human review.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deck (28 slides) available on request.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pharmacy demand: business summary</dc:title>
  <dc:subject>PptxGenJS Presentation</dc:subject>
  <dc:creator>Ruth Acolatse</dc:creator>
  <cp:lastModifiedBy>Ruth Acolatse</cp:lastModifiedBy>
  <cp:revision>1</cp:revision>
  <dcterms:created xsi:type="dcterms:W3CDTF">2026-09-29T12:04:37Z</dcterms:created>
  <dcterms:modified xsi:type="dcterms:W3CDTF">2026-09-29T12:04:37Z</dcterms:modified>
</cp:coreProperties>
</file>